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mover o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3AA9532-8581-4C6E-8569-F45A6984673A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RESERVA TÉCNICA: usar apenas se a banca perguntar sobre a transformação do formato amplo para longo. Uma linha de 2007 gerou seis observações distintas, preservando a linhagem.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1DA82A6-FE0B-402B-B309-73239FA3CCC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0B5671-37F0-4CF4-96D6-D924F77BE3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E1022B-DB5C-420A-A92C-9947B8B110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25DE7B-BAF7-46F2-971C-A3BE0C2224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2814AF-6CF6-40D6-AB10-8562EE204F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712A915-2BC2-4F95-B674-5A1E3905AE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A4AC7BE-C541-4D6A-B38D-D57CC83D36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AAEF3A5-EC49-418D-99BF-826F37E8CC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99592CC-2E5F-43E5-923F-709FC532A4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7C5C33-C207-427C-9CAA-FA04300057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64D4A11-E630-4F46-B63C-5205989EB0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ADB8B8-46C2-46E2-ADEB-BE6229B8C8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502920" y="32904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Aplicação de Engenharia de Dados e Business Intelligence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Análise de indicadores educacionais da Educação Básica brasileira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01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548640" y="1691640"/>
            <a:ext cx="11018160" cy="2834280"/>
          </a:xfrm>
          <a:prstGeom prst="roundRect">
            <a:avLst>
              <a:gd name="adj" fmla="val 16667"/>
            </a:avLst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914400" y="1993320"/>
            <a:ext cx="102866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33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 bases heterogêneas do INEP</a:t>
            </a:r>
            <a:endParaRPr lang="pt-B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33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 informações comparáveis e verificáveis</a:t>
            </a:r>
            <a:endParaRPr lang="pt-B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731520" y="5166360"/>
            <a:ext cx="10698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Milton Rafael de Souza Garcia  |  Sistemas de Informação — UEMG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914400" y="5614560"/>
            <a:ext cx="10332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4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Orientador: Anderson de Melo Valadão  •  Ituiutaba, 2026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502920" y="32904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01  Problema e motivação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O desafio está menos na existência dos dados e mais na comparabilidade entre edições e fontes.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02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6"/>
          <p:cNvSpPr/>
          <p:nvPr/>
        </p:nvSpPr>
        <p:spPr>
          <a:xfrm>
            <a:off x="640080" y="1645920"/>
            <a:ext cx="331884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ectangle 7"/>
          <p:cNvSpPr/>
          <p:nvPr/>
        </p:nvSpPr>
        <p:spPr>
          <a:xfrm>
            <a:off x="640080" y="1645920"/>
            <a:ext cx="77400" cy="255996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8"/>
          <p:cNvSpPr/>
          <p:nvPr/>
        </p:nvSpPr>
        <p:spPr>
          <a:xfrm>
            <a:off x="841320" y="1792080"/>
            <a:ext cx="2971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Fontes heterogêneas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9"/>
          <p:cNvSpPr/>
          <p:nvPr/>
        </p:nvSpPr>
        <p:spPr>
          <a:xfrm>
            <a:off x="841320" y="2203560"/>
            <a:ext cx="2953080" cy="189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Planilhas e microdados em formatos e granularidades diferentes.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10"/>
          <p:cNvSpPr/>
          <p:nvPr/>
        </p:nvSpPr>
        <p:spPr>
          <a:xfrm>
            <a:off x="4206240" y="1645920"/>
            <a:ext cx="331884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ectangle 11"/>
          <p:cNvSpPr/>
          <p:nvPr/>
        </p:nvSpPr>
        <p:spPr>
          <a:xfrm>
            <a:off x="4206240" y="1645920"/>
            <a:ext cx="77400" cy="255996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12"/>
          <p:cNvSpPr/>
          <p:nvPr/>
        </p:nvSpPr>
        <p:spPr>
          <a:xfrm>
            <a:off x="4407480" y="1792080"/>
            <a:ext cx="2971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Mudanças históricas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3"/>
          <p:cNvSpPr/>
          <p:nvPr/>
        </p:nvSpPr>
        <p:spPr>
          <a:xfrm>
            <a:off x="4407480" y="2203560"/>
            <a:ext cx="2953080" cy="189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Cabeçalhos, códigos, redes e categorias variam ao longo dos anos.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14"/>
          <p:cNvSpPr/>
          <p:nvPr/>
        </p:nvSpPr>
        <p:spPr>
          <a:xfrm>
            <a:off x="7772400" y="1645920"/>
            <a:ext cx="331884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ectangle 15"/>
          <p:cNvSpPr/>
          <p:nvPr/>
        </p:nvSpPr>
        <p:spPr>
          <a:xfrm>
            <a:off x="7772400" y="1645920"/>
            <a:ext cx="77400" cy="255996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16"/>
          <p:cNvSpPr/>
          <p:nvPr/>
        </p:nvSpPr>
        <p:spPr>
          <a:xfrm>
            <a:off x="7973640" y="1792080"/>
            <a:ext cx="2971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Risco analítico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7"/>
          <p:cNvSpPr/>
          <p:nvPr/>
        </p:nvSpPr>
        <p:spPr>
          <a:xfrm>
            <a:off x="7973640" y="2203560"/>
            <a:ext cx="2953080" cy="189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Comparar sem harmonizar pode misturar recortes e gerar resultados incorretos.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18"/>
          <p:cNvSpPr/>
          <p:nvPr/>
        </p:nvSpPr>
        <p:spPr>
          <a:xfrm>
            <a:off x="640080" y="4773240"/>
            <a:ext cx="10881000" cy="86832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9"/>
          <p:cNvSpPr/>
          <p:nvPr/>
        </p:nvSpPr>
        <p:spPr>
          <a:xfrm>
            <a:off x="914400" y="500184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0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Questão: como integrar e disponibilizar indicadores de forma consistente e rastreável?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502920" y="32904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02  Objetivo e recorte da análise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Um recorte comum para as quatro séries históricas; PND tratada separadamente.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03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6"/>
          <p:cNvSpPr/>
          <p:nvPr/>
        </p:nvSpPr>
        <p:spPr>
          <a:xfrm>
            <a:off x="640080" y="1508760"/>
            <a:ext cx="2422800" cy="137124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7"/>
          <p:cNvSpPr/>
          <p:nvPr/>
        </p:nvSpPr>
        <p:spPr>
          <a:xfrm>
            <a:off x="713160" y="1719000"/>
            <a:ext cx="2285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6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2007–2023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8"/>
          <p:cNvSpPr/>
          <p:nvPr/>
        </p:nvSpPr>
        <p:spPr>
          <a:xfrm>
            <a:off x="704160" y="2267640"/>
            <a:ext cx="2294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Período histórico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9"/>
          <p:cNvSpPr/>
          <p:nvPr/>
        </p:nvSpPr>
        <p:spPr>
          <a:xfrm>
            <a:off x="3474720" y="1508760"/>
            <a:ext cx="2422800" cy="137124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3547800" y="1719000"/>
            <a:ext cx="2285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6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27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1"/>
          <p:cNvSpPr/>
          <p:nvPr/>
        </p:nvSpPr>
        <p:spPr>
          <a:xfrm>
            <a:off x="3538800" y="2267640"/>
            <a:ext cx="2294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Unidades Federativas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12"/>
          <p:cNvSpPr/>
          <p:nvPr/>
        </p:nvSpPr>
        <p:spPr>
          <a:xfrm>
            <a:off x="6309360" y="1508760"/>
            <a:ext cx="2422800" cy="137124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13"/>
          <p:cNvSpPr/>
          <p:nvPr/>
        </p:nvSpPr>
        <p:spPr>
          <a:xfrm>
            <a:off x="6382440" y="1719000"/>
            <a:ext cx="2285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6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Pública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4"/>
          <p:cNvSpPr/>
          <p:nvPr/>
        </p:nvSpPr>
        <p:spPr>
          <a:xfrm>
            <a:off x="6373440" y="2267640"/>
            <a:ext cx="2294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Rede de ensino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144000" y="1508760"/>
            <a:ext cx="2422800" cy="137124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16"/>
          <p:cNvSpPr/>
          <p:nvPr/>
        </p:nvSpPr>
        <p:spPr>
          <a:xfrm>
            <a:off x="9217080" y="1719000"/>
            <a:ext cx="2285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6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2 etapas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7"/>
          <p:cNvSpPr/>
          <p:nvPr/>
        </p:nvSpPr>
        <p:spPr>
          <a:xfrm>
            <a:off x="9208080" y="2267640"/>
            <a:ext cx="2294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Iniciais e Finais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18"/>
          <p:cNvSpPr/>
          <p:nvPr/>
        </p:nvSpPr>
        <p:spPr>
          <a:xfrm>
            <a:off x="685800" y="3337560"/>
            <a:ext cx="6994800" cy="1599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Rectangle 19"/>
          <p:cNvSpPr/>
          <p:nvPr/>
        </p:nvSpPr>
        <p:spPr>
          <a:xfrm>
            <a:off x="685800" y="3337560"/>
            <a:ext cx="77400" cy="159984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20"/>
          <p:cNvSpPr/>
          <p:nvPr/>
        </p:nvSpPr>
        <p:spPr>
          <a:xfrm>
            <a:off x="887040" y="3483720"/>
            <a:ext cx="6647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0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Objetivo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21"/>
          <p:cNvSpPr/>
          <p:nvPr/>
        </p:nvSpPr>
        <p:spPr>
          <a:xfrm>
            <a:off x="887040" y="3895200"/>
            <a:ext cx="6629040" cy="93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Desenvolver e avaliar pipeline reproduzível integrado ao Power BI.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ounded Rectangle 22"/>
          <p:cNvSpPr/>
          <p:nvPr/>
        </p:nvSpPr>
        <p:spPr>
          <a:xfrm>
            <a:off x="7909560" y="3337560"/>
            <a:ext cx="3520080" cy="1599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Rectangle 23"/>
          <p:cNvSpPr/>
          <p:nvPr/>
        </p:nvSpPr>
        <p:spPr>
          <a:xfrm>
            <a:off x="7909560" y="3337560"/>
            <a:ext cx="77400" cy="1599840"/>
          </a:xfrm>
          <a:prstGeom prst="rect">
            <a:avLst/>
          </a:prstGeom>
          <a:solidFill>
            <a:srgbClr val="F0703E"/>
          </a:solidFill>
          <a:ln>
            <a:solidFill>
              <a:srgbClr val="F0703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24"/>
          <p:cNvSpPr/>
          <p:nvPr/>
        </p:nvSpPr>
        <p:spPr>
          <a:xfrm>
            <a:off x="8110800" y="3483720"/>
            <a:ext cx="317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Fora do recorte histórico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25"/>
          <p:cNvSpPr/>
          <p:nvPr/>
        </p:nvSpPr>
        <p:spPr>
          <a:xfrm>
            <a:off x="8110800" y="3895200"/>
            <a:ext cx="3154320" cy="93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Escolas, Ensino Médio e PND 2025 como série temporal.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2"/>
          <p:cNvSpPr/>
          <p:nvPr/>
        </p:nvSpPr>
        <p:spPr>
          <a:xfrm>
            <a:off x="502920" y="32904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03  Fontes oficiais utilizadas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Indicadores históricos de educação básica e uma base complementar de desempenho docente.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04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6"/>
          <p:cNvSpPr/>
          <p:nvPr/>
        </p:nvSpPr>
        <p:spPr>
          <a:xfrm>
            <a:off x="713160" y="1380600"/>
            <a:ext cx="10789560" cy="667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960120" y="149976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IDEB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2788920" y="149976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Índice de Desenvolvimento da Educação Básica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9"/>
          <p:cNvSpPr/>
          <p:nvPr/>
        </p:nvSpPr>
        <p:spPr>
          <a:xfrm>
            <a:off x="713160" y="2167200"/>
            <a:ext cx="10789560" cy="667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960120" y="228600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SAEB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2788920" y="228600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Proficiência em Língua Portuguesa e Matemática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12"/>
          <p:cNvSpPr/>
          <p:nvPr/>
        </p:nvSpPr>
        <p:spPr>
          <a:xfrm>
            <a:off x="713160" y="2953440"/>
            <a:ext cx="10789560" cy="667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960120" y="307224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Rendimento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4"/>
          <p:cNvSpPr/>
          <p:nvPr/>
        </p:nvSpPr>
        <p:spPr>
          <a:xfrm>
            <a:off x="2788920" y="307224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Aprovação, reprovação e abandono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15"/>
          <p:cNvSpPr/>
          <p:nvPr/>
        </p:nvSpPr>
        <p:spPr>
          <a:xfrm>
            <a:off x="713160" y="3740040"/>
            <a:ext cx="10789560" cy="667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16"/>
          <p:cNvSpPr/>
          <p:nvPr/>
        </p:nvSpPr>
        <p:spPr>
          <a:xfrm>
            <a:off x="960120" y="385884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TDI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7"/>
          <p:cNvSpPr/>
          <p:nvPr/>
        </p:nvSpPr>
        <p:spPr>
          <a:xfrm>
            <a:off x="2788920" y="385884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Taxa de Distorção Idade-Série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18"/>
          <p:cNvSpPr/>
          <p:nvPr/>
        </p:nvSpPr>
        <p:spPr>
          <a:xfrm>
            <a:off x="713160" y="4526280"/>
            <a:ext cx="10789560" cy="667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9"/>
          <p:cNvSpPr/>
          <p:nvPr/>
        </p:nvSpPr>
        <p:spPr>
          <a:xfrm>
            <a:off x="960120" y="464508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PND 2025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20"/>
          <p:cNvSpPr/>
          <p:nvPr/>
        </p:nvSpPr>
        <p:spPr>
          <a:xfrm>
            <a:off x="2788920" y="4645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Notas e padrões de desempenho dos participantes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502920" y="32904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04  Arquitetura do pipeline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Aquisição automatizada e processamento em Python; Power BI consome somente a camada Gold.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05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ounded Rectangle 6"/>
          <p:cNvSpPr/>
          <p:nvPr/>
        </p:nvSpPr>
        <p:spPr>
          <a:xfrm>
            <a:off x="384120" y="2030040"/>
            <a:ext cx="20570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Rectangle 7"/>
          <p:cNvSpPr/>
          <p:nvPr/>
        </p:nvSpPr>
        <p:spPr>
          <a:xfrm>
            <a:off x="384120" y="2030040"/>
            <a:ext cx="2057040" cy="9108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8"/>
          <p:cNvSpPr/>
          <p:nvPr/>
        </p:nvSpPr>
        <p:spPr>
          <a:xfrm>
            <a:off x="521280" y="231336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RAW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9"/>
          <p:cNvSpPr/>
          <p:nvPr/>
        </p:nvSpPr>
        <p:spPr>
          <a:xfrm>
            <a:off x="502920" y="27432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Arquivos oficiais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2459880" y="2514600"/>
            <a:ext cx="292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200" b="1" u="none" strike="noStrike">
                <a:solidFill>
                  <a:srgbClr val="1070CD"/>
                </a:solidFill>
                <a:effectLst/>
                <a:uFillTx/>
                <a:latin typeface="Aptos"/>
              </a:rPr>
              <a:t>→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11"/>
          <p:cNvSpPr/>
          <p:nvPr/>
        </p:nvSpPr>
        <p:spPr>
          <a:xfrm>
            <a:off x="2761560" y="2030040"/>
            <a:ext cx="20570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Rectangle 12"/>
          <p:cNvSpPr/>
          <p:nvPr/>
        </p:nvSpPr>
        <p:spPr>
          <a:xfrm>
            <a:off x="2761560" y="2030040"/>
            <a:ext cx="2057040" cy="91080"/>
          </a:xfrm>
          <a:prstGeom prst="rect">
            <a:avLst/>
          </a:prstGeom>
          <a:solidFill>
            <a:srgbClr val="F0703E"/>
          </a:solidFill>
          <a:ln>
            <a:solidFill>
              <a:srgbClr val="F0703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3"/>
          <p:cNvSpPr/>
          <p:nvPr/>
        </p:nvSpPr>
        <p:spPr>
          <a:xfrm>
            <a:off x="2898720" y="231336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BRONZE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4"/>
          <p:cNvSpPr/>
          <p:nvPr/>
        </p:nvSpPr>
        <p:spPr>
          <a:xfrm>
            <a:off x="2880360" y="27432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Leitura + metadados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4837320" y="2514600"/>
            <a:ext cx="292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200" b="1" u="none" strike="noStrike">
                <a:solidFill>
                  <a:srgbClr val="1070CD"/>
                </a:solidFill>
                <a:effectLst/>
                <a:uFillTx/>
                <a:latin typeface="Aptos"/>
              </a:rPr>
              <a:t>→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6"/>
          <p:cNvSpPr/>
          <p:nvPr/>
        </p:nvSpPr>
        <p:spPr>
          <a:xfrm>
            <a:off x="5139000" y="2030040"/>
            <a:ext cx="20570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Rectangle 17"/>
          <p:cNvSpPr/>
          <p:nvPr/>
        </p:nvSpPr>
        <p:spPr>
          <a:xfrm>
            <a:off x="5139000" y="2030040"/>
            <a:ext cx="2057040" cy="91080"/>
          </a:xfrm>
          <a:prstGeom prst="rect">
            <a:avLst/>
          </a:prstGeom>
          <a:solidFill>
            <a:srgbClr val="59697F"/>
          </a:solidFill>
          <a:ln>
            <a:solidFill>
              <a:srgbClr val="59697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18"/>
          <p:cNvSpPr/>
          <p:nvPr/>
        </p:nvSpPr>
        <p:spPr>
          <a:xfrm>
            <a:off x="5276160" y="231336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SILVER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19"/>
          <p:cNvSpPr/>
          <p:nvPr/>
        </p:nvSpPr>
        <p:spPr>
          <a:xfrm>
            <a:off x="5257800" y="27432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Recortes + harmonização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20"/>
          <p:cNvSpPr/>
          <p:nvPr/>
        </p:nvSpPr>
        <p:spPr>
          <a:xfrm>
            <a:off x="7214760" y="2514600"/>
            <a:ext cx="292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200" b="1" u="none" strike="noStrike">
                <a:solidFill>
                  <a:srgbClr val="1070CD"/>
                </a:solidFill>
                <a:effectLst/>
                <a:uFillTx/>
                <a:latin typeface="Aptos"/>
              </a:rPr>
              <a:t>→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21"/>
          <p:cNvSpPr/>
          <p:nvPr/>
        </p:nvSpPr>
        <p:spPr>
          <a:xfrm>
            <a:off x="7516440" y="2030040"/>
            <a:ext cx="20570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22"/>
          <p:cNvSpPr/>
          <p:nvPr/>
        </p:nvSpPr>
        <p:spPr>
          <a:xfrm>
            <a:off x="7516440" y="2030040"/>
            <a:ext cx="2057040" cy="91080"/>
          </a:xfrm>
          <a:prstGeom prst="rect">
            <a:avLst/>
          </a:prstGeom>
          <a:solidFill>
            <a:srgbClr val="DAAA22"/>
          </a:solidFill>
          <a:ln>
            <a:solidFill>
              <a:srgbClr val="DAAA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23"/>
          <p:cNvSpPr/>
          <p:nvPr/>
        </p:nvSpPr>
        <p:spPr>
          <a:xfrm>
            <a:off x="7653600" y="231336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GOLD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4"/>
          <p:cNvSpPr/>
          <p:nvPr/>
        </p:nvSpPr>
        <p:spPr>
          <a:xfrm>
            <a:off x="7635240" y="27432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Fatos + dimensões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5"/>
          <p:cNvSpPr/>
          <p:nvPr/>
        </p:nvSpPr>
        <p:spPr>
          <a:xfrm>
            <a:off x="9592200" y="2514600"/>
            <a:ext cx="292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200" b="1" u="none" strike="noStrike">
                <a:solidFill>
                  <a:srgbClr val="1070CD"/>
                </a:solidFill>
                <a:effectLst/>
                <a:uFillTx/>
                <a:latin typeface="Aptos"/>
              </a:rPr>
              <a:t>→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ounded Rectangle 26"/>
          <p:cNvSpPr/>
          <p:nvPr/>
        </p:nvSpPr>
        <p:spPr>
          <a:xfrm>
            <a:off x="9893880" y="2030040"/>
            <a:ext cx="20570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27"/>
          <p:cNvSpPr/>
          <p:nvPr/>
        </p:nvSpPr>
        <p:spPr>
          <a:xfrm>
            <a:off x="9893880" y="2030040"/>
            <a:ext cx="2057040" cy="9108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Box 28"/>
          <p:cNvSpPr/>
          <p:nvPr/>
        </p:nvSpPr>
        <p:spPr>
          <a:xfrm>
            <a:off x="10031040" y="231336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POWER BI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29"/>
          <p:cNvSpPr/>
          <p:nvPr/>
        </p:nvSpPr>
        <p:spPr>
          <a:xfrm>
            <a:off x="10012680" y="27432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Visuais + DAX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ounded Rectangle 30"/>
          <p:cNvSpPr/>
          <p:nvPr/>
        </p:nvSpPr>
        <p:spPr>
          <a:xfrm>
            <a:off x="1188720" y="4160520"/>
            <a:ext cx="9783720" cy="94140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31"/>
          <p:cNvSpPr/>
          <p:nvPr/>
        </p:nvSpPr>
        <p:spPr>
          <a:xfrm>
            <a:off x="1490400" y="4407480"/>
            <a:ext cx="9143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Inventário de 54 arquivos  •  SHA-256  •  Linhagem  •  Validações automatizadas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Picture 1" descr="01_layouts_rendimento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" descr="03_saeb_2023_validacao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Box 2"/>
          <p:cNvSpPr/>
          <p:nvPr/>
        </p:nvSpPr>
        <p:spPr>
          <a:xfrm>
            <a:off x="502920" y="32904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07  Outras exceções no SAEB e qualidade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Harmonização explícita, sem ocultar diferenças entre edições.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08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6"/>
          <p:cNvSpPr/>
          <p:nvPr/>
        </p:nvSpPr>
        <p:spPr>
          <a:xfrm>
            <a:off x="594360" y="1426320"/>
            <a:ext cx="5376240" cy="191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Rectangle 7"/>
          <p:cNvSpPr/>
          <p:nvPr/>
        </p:nvSpPr>
        <p:spPr>
          <a:xfrm>
            <a:off x="594360" y="1426320"/>
            <a:ext cx="77400" cy="191988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8"/>
          <p:cNvSpPr/>
          <p:nvPr/>
        </p:nvSpPr>
        <p:spPr>
          <a:xfrm>
            <a:off x="795600" y="1572840"/>
            <a:ext cx="5028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2007 e 2009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9"/>
          <p:cNvSpPr/>
          <p:nvPr/>
        </p:nvSpPr>
        <p:spPr>
          <a:xfrm>
            <a:off x="795600" y="1984320"/>
            <a:ext cx="5010480" cy="12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Agregado “Total - Estadual e Municipal”; composição distinta das edições seguintes.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10"/>
          <p:cNvSpPr/>
          <p:nvPr/>
        </p:nvSpPr>
        <p:spPr>
          <a:xfrm>
            <a:off x="6172200" y="1426320"/>
            <a:ext cx="5376240" cy="191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Rectangle 11"/>
          <p:cNvSpPr/>
          <p:nvPr/>
        </p:nvSpPr>
        <p:spPr>
          <a:xfrm>
            <a:off x="6172200" y="1426320"/>
            <a:ext cx="77400" cy="191988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12"/>
          <p:cNvSpPr/>
          <p:nvPr/>
        </p:nvSpPr>
        <p:spPr>
          <a:xfrm>
            <a:off x="6373440" y="1572840"/>
            <a:ext cx="5028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2011 e 2013–2015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3"/>
          <p:cNvSpPr/>
          <p:nvPr/>
        </p:nvSpPr>
        <p:spPr>
          <a:xfrm>
            <a:off x="6373440" y="1984320"/>
            <a:ext cx="5010480" cy="12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2011: código ID_TIPO_REDE = 5. Em 2013/2015: cabeçalhos de vários níveis.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4"/>
          <p:cNvSpPr/>
          <p:nvPr/>
        </p:nvSpPr>
        <p:spPr>
          <a:xfrm>
            <a:off x="594360" y="3611880"/>
            <a:ext cx="5376240" cy="1508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ectangle 15"/>
          <p:cNvSpPr/>
          <p:nvPr/>
        </p:nvSpPr>
        <p:spPr>
          <a:xfrm>
            <a:off x="594360" y="3611880"/>
            <a:ext cx="77400" cy="1508400"/>
          </a:xfrm>
          <a:prstGeom prst="rect">
            <a:avLst/>
          </a:prstGeom>
          <a:solidFill>
            <a:srgbClr val="F0703E"/>
          </a:solidFill>
          <a:ln>
            <a:solidFill>
              <a:srgbClr val="F0703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795600" y="3758040"/>
            <a:ext cx="5028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2015: regra para zero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795600" y="4169520"/>
            <a:ext cx="501048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4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Zero pode significar ausência nesse arquivo; não houve zeros no recorte final.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ounded Rectangle 18"/>
          <p:cNvSpPr/>
          <p:nvPr/>
        </p:nvSpPr>
        <p:spPr>
          <a:xfrm>
            <a:off x="6172200" y="3611880"/>
            <a:ext cx="5376240" cy="1508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Rectangle 19"/>
          <p:cNvSpPr/>
          <p:nvPr/>
        </p:nvSpPr>
        <p:spPr>
          <a:xfrm>
            <a:off x="6172200" y="3611880"/>
            <a:ext cx="77400" cy="150840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20"/>
          <p:cNvSpPr/>
          <p:nvPr/>
        </p:nvSpPr>
        <p:spPr>
          <a:xfrm>
            <a:off x="6373440" y="3758040"/>
            <a:ext cx="5028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Validações no pipeline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21"/>
          <p:cNvSpPr/>
          <p:nvPr/>
        </p:nvSpPr>
        <p:spPr>
          <a:xfrm>
            <a:off x="6373440" y="4169520"/>
            <a:ext cx="501048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4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Esquema, domínio, cobertura, duplicatas, grão, relações e origem.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TextBox 2"/>
          <p:cNvSpPr/>
          <p:nvPr/>
        </p:nvSpPr>
        <p:spPr>
          <a:xfrm>
            <a:off x="502920" y="32904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08  Modelo dimensional e leitura correta das médias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A Gold foi modelada para análise descritiva, não para recalcular o resultado nacional oficial.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09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ounded Rectangle 6"/>
          <p:cNvSpPr/>
          <p:nvPr/>
        </p:nvSpPr>
        <p:spPr>
          <a:xfrm>
            <a:off x="594360" y="1508760"/>
            <a:ext cx="3428640" cy="1901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Rectangle 7"/>
          <p:cNvSpPr/>
          <p:nvPr/>
        </p:nvSpPr>
        <p:spPr>
          <a:xfrm>
            <a:off x="594360" y="1508760"/>
            <a:ext cx="77400" cy="190152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Box 8"/>
          <p:cNvSpPr/>
          <p:nvPr/>
        </p:nvSpPr>
        <p:spPr>
          <a:xfrm>
            <a:off x="795600" y="1654920"/>
            <a:ext cx="308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5 fatos + 5 dimensões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9"/>
          <p:cNvSpPr/>
          <p:nvPr/>
        </p:nvSpPr>
        <p:spPr>
          <a:xfrm>
            <a:off x="795600" y="206640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Relacionamentos 1:* com filtro unidirecional.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ounded Rectangle 10"/>
          <p:cNvSpPr/>
          <p:nvPr/>
        </p:nvSpPr>
        <p:spPr>
          <a:xfrm>
            <a:off x="4370760" y="1508760"/>
            <a:ext cx="3428640" cy="1901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ectangle 11"/>
          <p:cNvSpPr/>
          <p:nvPr/>
        </p:nvSpPr>
        <p:spPr>
          <a:xfrm>
            <a:off x="4370760" y="1508760"/>
            <a:ext cx="77400" cy="190152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TextBox 12"/>
          <p:cNvSpPr/>
          <p:nvPr/>
        </p:nvSpPr>
        <p:spPr>
          <a:xfrm>
            <a:off x="4572000" y="1654920"/>
            <a:ext cx="308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Medidas DAX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13"/>
          <p:cNvSpPr/>
          <p:nvPr/>
        </p:nvSpPr>
        <p:spPr>
          <a:xfrm>
            <a:off x="4572000" y="206640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Médias dos registros disponíveis no filtro.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14"/>
          <p:cNvSpPr/>
          <p:nvPr/>
        </p:nvSpPr>
        <p:spPr>
          <a:xfrm>
            <a:off x="8138160" y="1508760"/>
            <a:ext cx="3428640" cy="1901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Rectangle 15"/>
          <p:cNvSpPr/>
          <p:nvPr/>
        </p:nvSpPr>
        <p:spPr>
          <a:xfrm>
            <a:off x="8138160" y="1508760"/>
            <a:ext cx="77400" cy="1901520"/>
          </a:xfrm>
          <a:prstGeom prst="rect">
            <a:avLst/>
          </a:prstGeom>
          <a:solidFill>
            <a:srgbClr val="F0703E"/>
          </a:solidFill>
          <a:ln>
            <a:solidFill>
              <a:srgbClr val="F0703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16"/>
          <p:cNvSpPr/>
          <p:nvPr/>
        </p:nvSpPr>
        <p:spPr>
          <a:xfrm>
            <a:off x="8339400" y="1654920"/>
            <a:ext cx="308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Interpretação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17"/>
          <p:cNvSpPr/>
          <p:nvPr/>
        </p:nvSpPr>
        <p:spPr>
          <a:xfrm>
            <a:off x="8339400" y="206640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UFs selecionadas têm o mesmo peso na média simples.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ounded Rectangle 18"/>
          <p:cNvSpPr/>
          <p:nvPr/>
        </p:nvSpPr>
        <p:spPr>
          <a:xfrm>
            <a:off x="777240" y="4005000"/>
            <a:ext cx="10606680" cy="106020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Box 19"/>
          <p:cNvSpPr/>
          <p:nvPr/>
        </p:nvSpPr>
        <p:spPr>
          <a:xfrm>
            <a:off x="969120" y="4151520"/>
            <a:ext cx="10277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Agregado oficial de cada UF ≠ média nacional oficial ponderada.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Uma média do dashboard resume os registros filtrados.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502920" y="329040"/>
            <a:ext cx="11155320" cy="50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09  Resultados: distorção idade-série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Exemplos de exploração analítica dos indicadores no Power BI.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10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8" name="Picture 6" descr="image(20261029-174134).png"/>
          <p:cNvPicPr/>
          <p:nvPr/>
        </p:nvPicPr>
        <p:blipFill>
          <a:blip r:embed="rId1"/>
          <a:stretch/>
        </p:blipFill>
        <p:spPr>
          <a:xfrm>
            <a:off x="502920" y="1511640"/>
            <a:ext cx="7333200" cy="409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Rounded Rectangle 7"/>
          <p:cNvSpPr/>
          <p:nvPr/>
        </p:nvSpPr>
        <p:spPr>
          <a:xfrm>
            <a:off x="8074080" y="1435680"/>
            <a:ext cx="33829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Rectangle 8"/>
          <p:cNvSpPr/>
          <p:nvPr/>
        </p:nvSpPr>
        <p:spPr>
          <a:xfrm>
            <a:off x="8074080" y="1435680"/>
            <a:ext cx="77400" cy="146268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Box 9"/>
          <p:cNvSpPr/>
          <p:nvPr/>
        </p:nvSpPr>
        <p:spPr>
          <a:xfrm>
            <a:off x="8275320" y="1581840"/>
            <a:ext cx="3035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TDI média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10"/>
          <p:cNvSpPr/>
          <p:nvPr/>
        </p:nvSpPr>
        <p:spPr>
          <a:xfrm>
            <a:off x="8275320" y="1993320"/>
            <a:ext cx="3017160" cy="79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24,9 (valor exibido no painel)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ounded Rectangle 11"/>
          <p:cNvSpPr/>
          <p:nvPr/>
        </p:nvSpPr>
        <p:spPr>
          <a:xfrm>
            <a:off x="8074080" y="3099960"/>
            <a:ext cx="33829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Rectangle 12"/>
          <p:cNvSpPr/>
          <p:nvPr/>
        </p:nvSpPr>
        <p:spPr>
          <a:xfrm>
            <a:off x="8074080" y="3099960"/>
            <a:ext cx="77400" cy="146268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13"/>
          <p:cNvSpPr/>
          <p:nvPr/>
        </p:nvSpPr>
        <p:spPr>
          <a:xfrm>
            <a:off x="8275320" y="3246120"/>
            <a:ext cx="3035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Variação da TDI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14"/>
          <p:cNvSpPr/>
          <p:nvPr/>
        </p:nvSpPr>
        <p:spPr>
          <a:xfrm>
            <a:off x="8275320" y="3657600"/>
            <a:ext cx="3017160" cy="79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−18,3 pontos percentuais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15"/>
          <p:cNvSpPr/>
          <p:nvPr/>
        </p:nvSpPr>
        <p:spPr>
          <a:xfrm>
            <a:off x="8138160" y="4791600"/>
            <a:ext cx="32914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6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Diferenças entre UFs e etapas são descritivas.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2"/>
          <p:cNvSpPr/>
          <p:nvPr/>
        </p:nvSpPr>
        <p:spPr>
          <a:xfrm>
            <a:off x="502920" y="32904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10  PND 2025: análise complementar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Base de participantes; a localidade indica onde a prova foi aplicada, não residência.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11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6"/>
          <p:cNvSpPr/>
          <p:nvPr/>
        </p:nvSpPr>
        <p:spPr>
          <a:xfrm>
            <a:off x="685800" y="1591200"/>
            <a:ext cx="3218400" cy="152676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"/>
          <p:cNvSpPr/>
          <p:nvPr/>
        </p:nvSpPr>
        <p:spPr>
          <a:xfrm>
            <a:off x="777240" y="1837800"/>
            <a:ext cx="3035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759.140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8"/>
          <p:cNvSpPr/>
          <p:nvPr/>
        </p:nvSpPr>
        <p:spPr>
          <a:xfrm>
            <a:off x="758880" y="2477880"/>
            <a:ext cx="3081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4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Registros analíticos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Rounded Rectangle 9"/>
          <p:cNvSpPr/>
          <p:nvPr/>
        </p:nvSpPr>
        <p:spPr>
          <a:xfrm>
            <a:off x="4270320" y="1591200"/>
            <a:ext cx="3218400" cy="152676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10"/>
          <p:cNvSpPr/>
          <p:nvPr/>
        </p:nvSpPr>
        <p:spPr>
          <a:xfrm>
            <a:off x="4361760" y="1837800"/>
            <a:ext cx="3035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64,97%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11"/>
          <p:cNvSpPr/>
          <p:nvPr/>
        </p:nvSpPr>
        <p:spPr>
          <a:xfrm>
            <a:off x="4343400" y="2477880"/>
            <a:ext cx="3081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4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Proficiência (Padrões 1 e 2)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ounded Rectangle 12"/>
          <p:cNvSpPr/>
          <p:nvPr/>
        </p:nvSpPr>
        <p:spPr>
          <a:xfrm>
            <a:off x="7854840" y="1591200"/>
            <a:ext cx="3218400" cy="1526760"/>
          </a:xfrm>
          <a:prstGeom prst="roundRect">
            <a:avLst>
              <a:gd name="adj" fmla="val 16667"/>
            </a:avLst>
          </a:prstGeom>
          <a:solidFill>
            <a:srgbClr val="E9F4FE"/>
          </a:solidFill>
          <a:ln>
            <a:solidFill>
              <a:srgbClr val="E9F4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13"/>
          <p:cNvSpPr/>
          <p:nvPr/>
        </p:nvSpPr>
        <p:spPr>
          <a:xfrm>
            <a:off x="7946280" y="1837800"/>
            <a:ext cx="3035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57,5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14"/>
          <p:cNvSpPr/>
          <p:nvPr/>
        </p:nvSpPr>
        <p:spPr>
          <a:xfrm>
            <a:off x="7927920" y="2477880"/>
            <a:ext cx="3081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4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Nota objetiva média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ounded Rectangle 15"/>
          <p:cNvSpPr/>
          <p:nvPr/>
        </p:nvSpPr>
        <p:spPr>
          <a:xfrm>
            <a:off x="777240" y="3794760"/>
            <a:ext cx="506556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Rectangle 16"/>
          <p:cNvSpPr/>
          <p:nvPr/>
        </p:nvSpPr>
        <p:spPr>
          <a:xfrm>
            <a:off x="777240" y="3794760"/>
            <a:ext cx="77400" cy="148104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17"/>
          <p:cNvSpPr/>
          <p:nvPr/>
        </p:nvSpPr>
        <p:spPr>
          <a:xfrm>
            <a:off x="978480" y="3940920"/>
            <a:ext cx="4717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Critérios de inclusão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18"/>
          <p:cNvSpPr/>
          <p:nvPr/>
        </p:nvSpPr>
        <p:spPr>
          <a:xfrm>
            <a:off x="978480" y="4352400"/>
            <a:ext cx="4699800" cy="8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Presença TP_PRES = 555 e cinco resultados completos.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ounded Rectangle 19"/>
          <p:cNvSpPr/>
          <p:nvPr/>
        </p:nvSpPr>
        <p:spPr>
          <a:xfrm>
            <a:off x="6126480" y="3794760"/>
            <a:ext cx="516600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Rectangle 20"/>
          <p:cNvSpPr/>
          <p:nvPr/>
        </p:nvSpPr>
        <p:spPr>
          <a:xfrm>
            <a:off x="6126480" y="3794760"/>
            <a:ext cx="77400" cy="1481040"/>
          </a:xfrm>
          <a:prstGeom prst="rect">
            <a:avLst/>
          </a:prstGeom>
          <a:solidFill>
            <a:srgbClr val="F0703E"/>
          </a:solidFill>
          <a:ln>
            <a:solidFill>
              <a:srgbClr val="F0703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1"/>
          <p:cNvSpPr/>
          <p:nvPr/>
        </p:nvSpPr>
        <p:spPr>
          <a:xfrm>
            <a:off x="6327720" y="3940920"/>
            <a:ext cx="48186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8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Interpretação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22"/>
          <p:cNvSpPr/>
          <p:nvPr/>
        </p:nvSpPr>
        <p:spPr>
          <a:xfrm>
            <a:off x="6327720" y="4352400"/>
            <a:ext cx="4800240" cy="8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Cortes na nota objetiva; não são aprovação/reprovação.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82B94"/>
          </a:solidFill>
          <a:ln>
            <a:solidFill>
              <a:srgbClr val="182B9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502920" y="32904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2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11  Limitações e contribuições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548640" y="850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Transparência metodológica é parte da confiabilidade dos resultados.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4"/>
          <p:cNvSpPr/>
          <p:nvPr/>
        </p:nvSpPr>
        <p:spPr>
          <a:xfrm>
            <a:off x="493920" y="6583680"/>
            <a:ext cx="11201040" cy="10440"/>
          </a:xfrm>
          <a:prstGeom prst="rect">
            <a:avLst/>
          </a:prstGeom>
          <a:solidFill>
            <a:srgbClr val="DBE3EC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11384280" y="658368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r" defTabSz="457200">
              <a:lnSpc>
                <a:spcPct val="100000"/>
              </a:lnSpc>
              <a:spcAft>
                <a:spcPts val="499"/>
              </a:spcAft>
            </a:pPr>
            <a:r>
              <a:rPr lang="en-US" sz="1000" b="0" u="none" strike="noStrike">
                <a:solidFill>
                  <a:srgbClr val="59697F"/>
                </a:solidFill>
                <a:effectLst/>
                <a:uFillTx/>
                <a:latin typeface="Aptos"/>
              </a:rPr>
              <a:t>12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ounded Rectangle 6"/>
          <p:cNvSpPr/>
          <p:nvPr/>
        </p:nvSpPr>
        <p:spPr>
          <a:xfrm>
            <a:off x="658440" y="1499760"/>
            <a:ext cx="5330520" cy="3236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Rectangle 7"/>
          <p:cNvSpPr/>
          <p:nvPr/>
        </p:nvSpPr>
        <p:spPr>
          <a:xfrm>
            <a:off x="658440" y="1499760"/>
            <a:ext cx="77400" cy="3236760"/>
          </a:xfrm>
          <a:prstGeom prst="rect">
            <a:avLst/>
          </a:prstGeom>
          <a:solidFill>
            <a:srgbClr val="F0703E"/>
          </a:solidFill>
          <a:ln>
            <a:solidFill>
              <a:srgbClr val="F0703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Box 8"/>
          <p:cNvSpPr/>
          <p:nvPr/>
        </p:nvSpPr>
        <p:spPr>
          <a:xfrm>
            <a:off x="859680" y="1645920"/>
            <a:ext cx="49831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Limitações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9"/>
          <p:cNvSpPr/>
          <p:nvPr/>
        </p:nvSpPr>
        <p:spPr>
          <a:xfrm>
            <a:off x="859680" y="2057400"/>
            <a:ext cx="4964760" cy="25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• Recorte por UF, não por escola.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• Periodicidades distintas entre indicadores.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• Médias do Power BI não são médias nacionais ponderadas.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• Análise descritiva, sem inferir causalidade.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ounded Rectangle 10"/>
          <p:cNvSpPr/>
          <p:nvPr/>
        </p:nvSpPr>
        <p:spPr>
          <a:xfrm>
            <a:off x="6208920" y="1499760"/>
            <a:ext cx="5330520" cy="3236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B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Rectangle 11"/>
          <p:cNvSpPr/>
          <p:nvPr/>
        </p:nvSpPr>
        <p:spPr>
          <a:xfrm>
            <a:off x="6208920" y="1499760"/>
            <a:ext cx="77400" cy="3236760"/>
          </a:xfrm>
          <a:prstGeom prst="rect">
            <a:avLst/>
          </a:prstGeom>
          <a:solidFill>
            <a:srgbClr val="1070CD"/>
          </a:solidFill>
          <a:ln>
            <a:solidFill>
              <a:srgbClr val="1070C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2"/>
          <p:cNvSpPr/>
          <p:nvPr/>
        </p:nvSpPr>
        <p:spPr>
          <a:xfrm>
            <a:off x="6409800" y="1645920"/>
            <a:ext cx="49831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Contribuições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3"/>
          <p:cNvSpPr/>
          <p:nvPr/>
        </p:nvSpPr>
        <p:spPr>
          <a:xfrm>
            <a:off x="6409800" y="2057400"/>
            <a:ext cx="4964760" cy="25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• Harmonização histórica por edição.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• Preservação dos agregados oficiais.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• Pipeline automatizado e rastreável.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500" b="0" u="none" strike="noStrike">
                <a:solidFill>
                  <a:srgbClr val="243044"/>
                </a:solidFill>
                <a:effectLst/>
                <a:uFillTx/>
                <a:latin typeface="Aptos"/>
              </a:rPr>
              <a:t>• Gold dimensional e sete páginas de BI.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14"/>
          <p:cNvSpPr/>
          <p:nvPr/>
        </p:nvSpPr>
        <p:spPr>
          <a:xfrm>
            <a:off x="1005840" y="5203080"/>
            <a:ext cx="102409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23040" rIns="3672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900" b="1" u="none" strike="noStrike">
                <a:solidFill>
                  <a:srgbClr val="182B94"/>
                </a:solidFill>
                <a:effectLst/>
                <a:uFillTx/>
                <a:latin typeface="Aptos"/>
              </a:rPr>
              <a:t>Conclusão: dados dispersos se tornam um produto analítico reproduzível e verificável.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Picture 1" descr="02_amplo_para_longo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LibreOffice/26.2.2.2$Windows_X86_64 LibreOffice_project/1f77d10d6938fd34972958f64b2bcfa54f8b1ba5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2026-10-29T16:17:37Z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