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8E2F15-F5E1-4C49-8F7B-ABC4018217E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RESERVA TÉCNICA: usar apenas se a banca perguntar sobre a transformação do formato amplo para longo. Uma linha de 2007 gerou seis observações distintas, preservando a linhagem.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4B181E-F36E-4E58-8A8D-1F1884AED9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361251-F6BC-46D2-979B-3505FB819B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CA121-B57E-4FFF-8DF3-4A3759355A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FADE7C-E9C6-499E-9AC4-98F04E5225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C1814F-665A-4F90-83F0-101656894E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A95232-70E1-40DD-8C70-153AD41511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BF65A6-19DE-46B8-A870-3ED7663CA3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6FF2DB-CE2E-4CEE-9A37-2CF5DE8B3B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0C3733-2173-4061-84B5-21FE7BAF41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52249-51A2-4475-9AF3-D1D6456BE0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B00814-2645-4ADE-AB9A-C279771792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89B336-659C-4370-BAAF-C8933A9A8F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Aplicação de Engenharia de Dados e Business Intelligence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Análise de indicadores educacionais da Educação Básica brasileira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548640" y="1691640"/>
            <a:ext cx="11018160" cy="2834280"/>
          </a:xfrm>
          <a:prstGeom prst="roundRect">
            <a:avLst>
              <a:gd name="adj" fmla="val 16667"/>
            </a:avLst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14400" y="1993320"/>
            <a:ext cx="10286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 bases heterogêneas do INEP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 informações comparáveis e verificáveis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731520" y="516636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Milton Rafael de Souza Garcia  |  Sistemas de Informação — UEMG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14400" y="561456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Orientador: Anderson de Melo Valadão  •  Ituiutaba, 2026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01  Problema e motivação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O desafio está menos na existência dos dados e mais na comparabilidade entre edições e fontes.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640080" y="1645920"/>
            <a:ext cx="331884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640080" y="1645920"/>
            <a:ext cx="77400" cy="255996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841320" y="1792080"/>
            <a:ext cx="2971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Fontes heterogêneas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841320" y="2203560"/>
            <a:ext cx="2953080" cy="18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Planilhas e microdados em formatos e granularidades diferentes.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0"/>
          <p:cNvSpPr/>
          <p:nvPr/>
        </p:nvSpPr>
        <p:spPr>
          <a:xfrm>
            <a:off x="4206240" y="1645920"/>
            <a:ext cx="331884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1"/>
          <p:cNvSpPr/>
          <p:nvPr/>
        </p:nvSpPr>
        <p:spPr>
          <a:xfrm>
            <a:off x="4206240" y="1645920"/>
            <a:ext cx="77400" cy="255996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4407480" y="1792080"/>
            <a:ext cx="2971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Mudanças históricas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4407480" y="2203560"/>
            <a:ext cx="2953080" cy="18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Cabeçalhos, códigos, redes e categorias variam ao longo dos anos.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4"/>
          <p:cNvSpPr/>
          <p:nvPr/>
        </p:nvSpPr>
        <p:spPr>
          <a:xfrm>
            <a:off x="7772400" y="1645920"/>
            <a:ext cx="331884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7772400" y="1645920"/>
            <a:ext cx="77400" cy="255996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7973640" y="1792080"/>
            <a:ext cx="2971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Risco analítico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7973640" y="2203560"/>
            <a:ext cx="2953080" cy="18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Comparar sem harmonizar pode misturar recortes e gerar resultados incorretos.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8"/>
          <p:cNvSpPr/>
          <p:nvPr/>
        </p:nvSpPr>
        <p:spPr>
          <a:xfrm>
            <a:off x="640080" y="4773240"/>
            <a:ext cx="10881000" cy="86832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914400" y="500184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Questão: como integrar e disponibilizar indicadores de forma consistente e rastreável?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02  Objetivo e recorte da análise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Um recorte comum para as quatro séries históricas; PND tratada separadamente.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6"/>
          <p:cNvSpPr/>
          <p:nvPr/>
        </p:nvSpPr>
        <p:spPr>
          <a:xfrm>
            <a:off x="640080" y="1508760"/>
            <a:ext cx="2422800" cy="137124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713160" y="171900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6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2007–2023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704160" y="22676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Período histórico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9"/>
          <p:cNvSpPr/>
          <p:nvPr/>
        </p:nvSpPr>
        <p:spPr>
          <a:xfrm>
            <a:off x="3474720" y="1508760"/>
            <a:ext cx="2422800" cy="137124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3547800" y="171900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6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27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3538800" y="22676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Unidades Federativas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2"/>
          <p:cNvSpPr/>
          <p:nvPr/>
        </p:nvSpPr>
        <p:spPr>
          <a:xfrm>
            <a:off x="6309360" y="1508760"/>
            <a:ext cx="2422800" cy="137124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6382440" y="171900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6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Pública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6373440" y="22676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Rede de ensino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9144000" y="1508760"/>
            <a:ext cx="2422800" cy="137124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9217080" y="1719000"/>
            <a:ext cx="2285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6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 etapas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9208080" y="2267640"/>
            <a:ext cx="229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Iniciais e Finais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8"/>
          <p:cNvSpPr/>
          <p:nvPr/>
        </p:nvSpPr>
        <p:spPr>
          <a:xfrm>
            <a:off x="685800" y="3337560"/>
            <a:ext cx="699480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9"/>
          <p:cNvSpPr/>
          <p:nvPr/>
        </p:nvSpPr>
        <p:spPr>
          <a:xfrm>
            <a:off x="685800" y="3337560"/>
            <a:ext cx="77400" cy="159984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887040" y="3483720"/>
            <a:ext cx="664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Objetivo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887040" y="3895200"/>
            <a:ext cx="66290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Desenvolver e avaliar pipeline reproduzível integrado ao Power BI.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22"/>
          <p:cNvSpPr/>
          <p:nvPr/>
        </p:nvSpPr>
        <p:spPr>
          <a:xfrm>
            <a:off x="7909560" y="3337560"/>
            <a:ext cx="35200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3"/>
          <p:cNvSpPr/>
          <p:nvPr/>
        </p:nvSpPr>
        <p:spPr>
          <a:xfrm>
            <a:off x="7909560" y="3337560"/>
            <a:ext cx="77400" cy="159984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8110800" y="3483720"/>
            <a:ext cx="317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Fora do recorte histórico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5"/>
          <p:cNvSpPr/>
          <p:nvPr/>
        </p:nvSpPr>
        <p:spPr>
          <a:xfrm>
            <a:off x="8110800" y="3895200"/>
            <a:ext cx="315432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Escolas, Ensino Médio e PND 2025 como série temporal.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03  Fontes oficiais utilizadas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Indicadores históricos de educação básica e uma base complementar de desempenho docente.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6"/>
          <p:cNvSpPr/>
          <p:nvPr/>
        </p:nvSpPr>
        <p:spPr>
          <a:xfrm>
            <a:off x="713160" y="1380600"/>
            <a:ext cx="10789560" cy="66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960120" y="14997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IDEB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2788920" y="14997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Índice de Desenvolvimento da Educação Básica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713160" y="2167200"/>
            <a:ext cx="10789560" cy="66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960120" y="2286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SAEB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2788920" y="22860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Proficiência em Língua Portuguesa e Matemática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2"/>
          <p:cNvSpPr/>
          <p:nvPr/>
        </p:nvSpPr>
        <p:spPr>
          <a:xfrm>
            <a:off x="713160" y="2953440"/>
            <a:ext cx="10789560" cy="66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960120" y="30722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Rendimento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2788920" y="30722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Aprovação, reprovação e abandono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5"/>
          <p:cNvSpPr/>
          <p:nvPr/>
        </p:nvSpPr>
        <p:spPr>
          <a:xfrm>
            <a:off x="713160" y="3740040"/>
            <a:ext cx="10789560" cy="66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6"/>
          <p:cNvSpPr/>
          <p:nvPr/>
        </p:nvSpPr>
        <p:spPr>
          <a:xfrm>
            <a:off x="960120" y="385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TDI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2788920" y="38588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Taxa de Distorção Idade-Série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8"/>
          <p:cNvSpPr/>
          <p:nvPr/>
        </p:nvSpPr>
        <p:spPr>
          <a:xfrm>
            <a:off x="713160" y="4526280"/>
            <a:ext cx="10789560" cy="66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960120" y="4645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PND 2025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0"/>
          <p:cNvSpPr/>
          <p:nvPr/>
        </p:nvSpPr>
        <p:spPr>
          <a:xfrm>
            <a:off x="2788920" y="4645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Notas e padrões de desempenho dos participantes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04  Arquitetura do pipeline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Aquisição automatizada e processamento em Python; Power BI consome somente a camada Gold.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6"/>
          <p:cNvSpPr/>
          <p:nvPr/>
        </p:nvSpPr>
        <p:spPr>
          <a:xfrm>
            <a:off x="384120" y="203004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7"/>
          <p:cNvSpPr/>
          <p:nvPr/>
        </p:nvSpPr>
        <p:spPr>
          <a:xfrm>
            <a:off x="384120" y="2030040"/>
            <a:ext cx="2057040" cy="9108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521280" y="2313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RAW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502920" y="2743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Arquivos oficiais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2459880" y="251460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200" b="1" u="none" strike="noStrike">
                <a:solidFill>
                  <a:srgbClr val="1070CD"/>
                </a:solidFill>
                <a:effectLst/>
                <a:uFillTx/>
                <a:latin typeface="Aptos"/>
              </a:rPr>
              <a:t>→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1"/>
          <p:cNvSpPr/>
          <p:nvPr/>
        </p:nvSpPr>
        <p:spPr>
          <a:xfrm>
            <a:off x="2761560" y="203004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12"/>
          <p:cNvSpPr/>
          <p:nvPr/>
        </p:nvSpPr>
        <p:spPr>
          <a:xfrm>
            <a:off x="2761560" y="2030040"/>
            <a:ext cx="2057040" cy="9108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3"/>
          <p:cNvSpPr/>
          <p:nvPr/>
        </p:nvSpPr>
        <p:spPr>
          <a:xfrm>
            <a:off x="2898720" y="2313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BRONZE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2880360" y="2743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Leitura + metadados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4837320" y="251460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200" b="1" u="none" strike="noStrike">
                <a:solidFill>
                  <a:srgbClr val="1070CD"/>
                </a:solidFill>
                <a:effectLst/>
                <a:uFillTx/>
                <a:latin typeface="Aptos"/>
              </a:rPr>
              <a:t>→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6"/>
          <p:cNvSpPr/>
          <p:nvPr/>
        </p:nvSpPr>
        <p:spPr>
          <a:xfrm>
            <a:off x="5139000" y="203004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17"/>
          <p:cNvSpPr/>
          <p:nvPr/>
        </p:nvSpPr>
        <p:spPr>
          <a:xfrm>
            <a:off x="5139000" y="2030040"/>
            <a:ext cx="2057040" cy="91080"/>
          </a:xfrm>
          <a:prstGeom prst="rect">
            <a:avLst/>
          </a:prstGeom>
          <a:solidFill>
            <a:srgbClr val="59697F"/>
          </a:solidFill>
          <a:ln>
            <a:solidFill>
              <a:srgbClr val="59697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8"/>
          <p:cNvSpPr/>
          <p:nvPr/>
        </p:nvSpPr>
        <p:spPr>
          <a:xfrm>
            <a:off x="5276160" y="2313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SILVER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9"/>
          <p:cNvSpPr/>
          <p:nvPr/>
        </p:nvSpPr>
        <p:spPr>
          <a:xfrm>
            <a:off x="5257800" y="2743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Recortes + harmonização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0"/>
          <p:cNvSpPr/>
          <p:nvPr/>
        </p:nvSpPr>
        <p:spPr>
          <a:xfrm>
            <a:off x="7214760" y="251460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200" b="1" u="none" strike="noStrike">
                <a:solidFill>
                  <a:srgbClr val="1070CD"/>
                </a:solidFill>
                <a:effectLst/>
                <a:uFillTx/>
                <a:latin typeface="Aptos"/>
              </a:rPr>
              <a:t>→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21"/>
          <p:cNvSpPr/>
          <p:nvPr/>
        </p:nvSpPr>
        <p:spPr>
          <a:xfrm>
            <a:off x="7516440" y="203004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22"/>
          <p:cNvSpPr/>
          <p:nvPr/>
        </p:nvSpPr>
        <p:spPr>
          <a:xfrm>
            <a:off x="7516440" y="2030040"/>
            <a:ext cx="2057040" cy="91080"/>
          </a:xfrm>
          <a:prstGeom prst="rect">
            <a:avLst/>
          </a:prstGeom>
          <a:solidFill>
            <a:srgbClr val="DAAA22"/>
          </a:solidFill>
          <a:ln>
            <a:solidFill>
              <a:srgbClr val="DAA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3"/>
          <p:cNvSpPr/>
          <p:nvPr/>
        </p:nvSpPr>
        <p:spPr>
          <a:xfrm>
            <a:off x="7653600" y="2313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GOLD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4"/>
          <p:cNvSpPr/>
          <p:nvPr/>
        </p:nvSpPr>
        <p:spPr>
          <a:xfrm>
            <a:off x="7635240" y="2743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Fatos + dimensões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5"/>
          <p:cNvSpPr/>
          <p:nvPr/>
        </p:nvSpPr>
        <p:spPr>
          <a:xfrm>
            <a:off x="9592200" y="2514600"/>
            <a:ext cx="29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200" b="1" u="none" strike="noStrike">
                <a:solidFill>
                  <a:srgbClr val="1070CD"/>
                </a:solidFill>
                <a:effectLst/>
                <a:uFillTx/>
                <a:latin typeface="Aptos"/>
              </a:rPr>
              <a:t>→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6"/>
          <p:cNvSpPr/>
          <p:nvPr/>
        </p:nvSpPr>
        <p:spPr>
          <a:xfrm>
            <a:off x="9893880" y="203004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27"/>
          <p:cNvSpPr/>
          <p:nvPr/>
        </p:nvSpPr>
        <p:spPr>
          <a:xfrm>
            <a:off x="9893880" y="2030040"/>
            <a:ext cx="2057040" cy="9108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8"/>
          <p:cNvSpPr/>
          <p:nvPr/>
        </p:nvSpPr>
        <p:spPr>
          <a:xfrm>
            <a:off x="10031040" y="23133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POWER BI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9"/>
          <p:cNvSpPr/>
          <p:nvPr/>
        </p:nvSpPr>
        <p:spPr>
          <a:xfrm>
            <a:off x="10012680" y="2743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Visuais + DAX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0"/>
          <p:cNvSpPr/>
          <p:nvPr/>
        </p:nvSpPr>
        <p:spPr>
          <a:xfrm>
            <a:off x="1188720" y="4160520"/>
            <a:ext cx="9783720" cy="94140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1"/>
          <p:cNvSpPr/>
          <p:nvPr/>
        </p:nvSpPr>
        <p:spPr>
          <a:xfrm>
            <a:off x="1490400" y="4407480"/>
            <a:ext cx="9143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Inventário de 54 arquivos  •  SHA-256  •  Linhagem  •  Validações automatizadas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1" descr="01_layouts_rendiment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" descr="03_saeb_2023_validaca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07  Outras exceções no SAEB e qualidade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Harmonização explícita, sem ocultar diferenças entre edições.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594360" y="1426320"/>
            <a:ext cx="537624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594360" y="1426320"/>
            <a:ext cx="77400" cy="191988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795600" y="1572840"/>
            <a:ext cx="502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2007 e 2009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795600" y="1984320"/>
            <a:ext cx="50104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Agregado “Total - Estadual e Municipal”; composição distinta das edições seguintes.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0"/>
          <p:cNvSpPr/>
          <p:nvPr/>
        </p:nvSpPr>
        <p:spPr>
          <a:xfrm>
            <a:off x="6172200" y="1426320"/>
            <a:ext cx="537624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11"/>
          <p:cNvSpPr/>
          <p:nvPr/>
        </p:nvSpPr>
        <p:spPr>
          <a:xfrm>
            <a:off x="6172200" y="1426320"/>
            <a:ext cx="77400" cy="191988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6373440" y="1572840"/>
            <a:ext cx="502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2011 e 2013–2015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6373440" y="1984320"/>
            <a:ext cx="50104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2011: código ID_TIPO_REDE = 5. Em 2013/2015: cabeçalhos de vários níveis.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594360" y="3611880"/>
            <a:ext cx="5376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5"/>
          <p:cNvSpPr/>
          <p:nvPr/>
        </p:nvSpPr>
        <p:spPr>
          <a:xfrm>
            <a:off x="594360" y="3611880"/>
            <a:ext cx="77400" cy="150840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795600" y="3758040"/>
            <a:ext cx="502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2015: regra para zero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795600" y="4169520"/>
            <a:ext cx="5010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Zero pode significar ausência nesse arquivo; não houve zeros no recorte final.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8"/>
          <p:cNvSpPr/>
          <p:nvPr/>
        </p:nvSpPr>
        <p:spPr>
          <a:xfrm>
            <a:off x="6172200" y="3611880"/>
            <a:ext cx="5376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19"/>
          <p:cNvSpPr/>
          <p:nvPr/>
        </p:nvSpPr>
        <p:spPr>
          <a:xfrm>
            <a:off x="6172200" y="3611880"/>
            <a:ext cx="77400" cy="150840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6373440" y="3758040"/>
            <a:ext cx="502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Validações no pipeline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1"/>
          <p:cNvSpPr/>
          <p:nvPr/>
        </p:nvSpPr>
        <p:spPr>
          <a:xfrm>
            <a:off x="6373440" y="4169520"/>
            <a:ext cx="5010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Esquema, domínio, cobertura, duplicatas, grão, relações e origem.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08  Modelo dimensional e leitura correta das médias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A Gold foi modelada para análise descritiva, não para recalcular o resultado nacional oficial.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09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6"/>
          <p:cNvSpPr/>
          <p:nvPr/>
        </p:nvSpPr>
        <p:spPr>
          <a:xfrm>
            <a:off x="594360" y="1508760"/>
            <a:ext cx="3428640" cy="190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7"/>
          <p:cNvSpPr/>
          <p:nvPr/>
        </p:nvSpPr>
        <p:spPr>
          <a:xfrm>
            <a:off x="594360" y="1508760"/>
            <a:ext cx="77400" cy="190152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795600" y="1654920"/>
            <a:ext cx="308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5 fatos + 5 dimensões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795600" y="2066400"/>
            <a:ext cx="3062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Relacionamentos 1:* com filtro unidirecional.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0"/>
          <p:cNvSpPr/>
          <p:nvPr/>
        </p:nvSpPr>
        <p:spPr>
          <a:xfrm>
            <a:off x="4370760" y="1508760"/>
            <a:ext cx="3428640" cy="190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1"/>
          <p:cNvSpPr/>
          <p:nvPr/>
        </p:nvSpPr>
        <p:spPr>
          <a:xfrm>
            <a:off x="4370760" y="1508760"/>
            <a:ext cx="77400" cy="190152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4572000" y="1654920"/>
            <a:ext cx="308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Medidas DAX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3"/>
          <p:cNvSpPr/>
          <p:nvPr/>
        </p:nvSpPr>
        <p:spPr>
          <a:xfrm>
            <a:off x="4572000" y="2066400"/>
            <a:ext cx="3062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Médias dos registros disponíveis no filtro.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14"/>
          <p:cNvSpPr/>
          <p:nvPr/>
        </p:nvSpPr>
        <p:spPr>
          <a:xfrm>
            <a:off x="8138160" y="1508760"/>
            <a:ext cx="3428640" cy="190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15"/>
          <p:cNvSpPr/>
          <p:nvPr/>
        </p:nvSpPr>
        <p:spPr>
          <a:xfrm>
            <a:off x="8138160" y="1508760"/>
            <a:ext cx="77400" cy="190152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8339400" y="1654920"/>
            <a:ext cx="308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Interpretação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8339400" y="2066400"/>
            <a:ext cx="3062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UFs selecionadas têm o mesmo peso na média simples.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8"/>
          <p:cNvSpPr/>
          <p:nvPr/>
        </p:nvSpPr>
        <p:spPr>
          <a:xfrm>
            <a:off x="777240" y="4005000"/>
            <a:ext cx="10606680" cy="106020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969120" y="4151520"/>
            <a:ext cx="1027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Agregado oficial de cada UF ≠ média nacional oficial ponderada.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Uma média do dashboard resume os registros filtrados.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502920" y="329040"/>
            <a:ext cx="11155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09  Resultados: distorção idade-série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Exemplos de exploração analítica dos indicadores no Power BI.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10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6" descr="image(20261029-174134).png"/>
          <p:cNvPicPr/>
          <p:nvPr/>
        </p:nvPicPr>
        <p:blipFill>
          <a:blip r:embed="rId1"/>
          <a:stretch/>
        </p:blipFill>
        <p:spPr>
          <a:xfrm>
            <a:off x="502920" y="1511640"/>
            <a:ext cx="7333200" cy="409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Rounded Rectangle 7"/>
          <p:cNvSpPr/>
          <p:nvPr/>
        </p:nvSpPr>
        <p:spPr>
          <a:xfrm>
            <a:off x="8074080" y="1435680"/>
            <a:ext cx="3382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8"/>
          <p:cNvSpPr/>
          <p:nvPr/>
        </p:nvSpPr>
        <p:spPr>
          <a:xfrm>
            <a:off x="8074080" y="1435680"/>
            <a:ext cx="77400" cy="146268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8275320" y="158184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TDI média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8275320" y="1993320"/>
            <a:ext cx="30171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24,9 (valor exibido no painel)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1"/>
          <p:cNvSpPr/>
          <p:nvPr/>
        </p:nvSpPr>
        <p:spPr>
          <a:xfrm>
            <a:off x="8074080" y="3099960"/>
            <a:ext cx="3382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2"/>
          <p:cNvSpPr/>
          <p:nvPr/>
        </p:nvSpPr>
        <p:spPr>
          <a:xfrm>
            <a:off x="8074080" y="3099960"/>
            <a:ext cx="77400" cy="146268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8275320" y="3246120"/>
            <a:ext cx="3035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Variação da TDI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4"/>
          <p:cNvSpPr/>
          <p:nvPr/>
        </p:nvSpPr>
        <p:spPr>
          <a:xfrm>
            <a:off x="8275320" y="3657600"/>
            <a:ext cx="30171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−18,3 pontos percentuais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8138160" y="479160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Diferenças entre UFs e etapas são descritivas.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10  PND 2025: análise complementar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Base de participantes; a localidade indica onde a prova foi aplicada, não residência.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11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6"/>
          <p:cNvSpPr/>
          <p:nvPr/>
        </p:nvSpPr>
        <p:spPr>
          <a:xfrm>
            <a:off x="685800" y="1591200"/>
            <a:ext cx="3218400" cy="152676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7"/>
          <p:cNvSpPr/>
          <p:nvPr/>
        </p:nvSpPr>
        <p:spPr>
          <a:xfrm>
            <a:off x="777240" y="1837800"/>
            <a:ext cx="303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759.140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8"/>
          <p:cNvSpPr/>
          <p:nvPr/>
        </p:nvSpPr>
        <p:spPr>
          <a:xfrm>
            <a:off x="758880" y="2477880"/>
            <a:ext cx="3081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Registros analíticos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9"/>
          <p:cNvSpPr/>
          <p:nvPr/>
        </p:nvSpPr>
        <p:spPr>
          <a:xfrm>
            <a:off x="4270320" y="1591200"/>
            <a:ext cx="3218400" cy="152676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0"/>
          <p:cNvSpPr/>
          <p:nvPr/>
        </p:nvSpPr>
        <p:spPr>
          <a:xfrm>
            <a:off x="4361760" y="1837800"/>
            <a:ext cx="303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64,97%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1"/>
          <p:cNvSpPr/>
          <p:nvPr/>
        </p:nvSpPr>
        <p:spPr>
          <a:xfrm>
            <a:off x="4343400" y="2477880"/>
            <a:ext cx="3081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Proficiência (Padrões 1 e 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12"/>
          <p:cNvSpPr/>
          <p:nvPr/>
        </p:nvSpPr>
        <p:spPr>
          <a:xfrm>
            <a:off x="7854840" y="1591200"/>
            <a:ext cx="3218400" cy="1526760"/>
          </a:xfrm>
          <a:prstGeom prst="roundRect">
            <a:avLst>
              <a:gd name="adj" fmla="val 16667"/>
            </a:avLst>
          </a:prstGeom>
          <a:solidFill>
            <a:srgbClr val="E9F4FE"/>
          </a:solidFill>
          <a:ln>
            <a:solidFill>
              <a:srgbClr val="E9F4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3"/>
          <p:cNvSpPr/>
          <p:nvPr/>
        </p:nvSpPr>
        <p:spPr>
          <a:xfrm>
            <a:off x="7946280" y="1837800"/>
            <a:ext cx="303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57,5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4"/>
          <p:cNvSpPr/>
          <p:nvPr/>
        </p:nvSpPr>
        <p:spPr>
          <a:xfrm>
            <a:off x="7927920" y="2477880"/>
            <a:ext cx="3081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Nota objetiva média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5"/>
          <p:cNvSpPr/>
          <p:nvPr/>
        </p:nvSpPr>
        <p:spPr>
          <a:xfrm>
            <a:off x="777240" y="3794760"/>
            <a:ext cx="506556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16"/>
          <p:cNvSpPr/>
          <p:nvPr/>
        </p:nvSpPr>
        <p:spPr>
          <a:xfrm>
            <a:off x="777240" y="3794760"/>
            <a:ext cx="77400" cy="148104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7"/>
          <p:cNvSpPr/>
          <p:nvPr/>
        </p:nvSpPr>
        <p:spPr>
          <a:xfrm>
            <a:off x="978480" y="3940920"/>
            <a:ext cx="4717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Critérios de inclusão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8"/>
          <p:cNvSpPr/>
          <p:nvPr/>
        </p:nvSpPr>
        <p:spPr>
          <a:xfrm>
            <a:off x="978480" y="4352400"/>
            <a:ext cx="4699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Presença TP_PRES = 555 e cinco resultados completos.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9"/>
          <p:cNvSpPr/>
          <p:nvPr/>
        </p:nvSpPr>
        <p:spPr>
          <a:xfrm>
            <a:off x="6126480" y="3794760"/>
            <a:ext cx="516600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ectangle 20"/>
          <p:cNvSpPr/>
          <p:nvPr/>
        </p:nvSpPr>
        <p:spPr>
          <a:xfrm>
            <a:off x="6126480" y="3794760"/>
            <a:ext cx="77400" cy="148104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1"/>
          <p:cNvSpPr/>
          <p:nvPr/>
        </p:nvSpPr>
        <p:spPr>
          <a:xfrm>
            <a:off x="6327720" y="3940920"/>
            <a:ext cx="481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Interpretação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2"/>
          <p:cNvSpPr/>
          <p:nvPr/>
        </p:nvSpPr>
        <p:spPr>
          <a:xfrm>
            <a:off x="6327720" y="4352400"/>
            <a:ext cx="48002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Cortes na nota objetiva; não são aprovação/reprovação.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82B94"/>
          </a:solidFill>
          <a:ln>
            <a:solidFill>
              <a:srgbClr val="182B9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502920" y="3290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11  Limitações e contribuições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548640" y="850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Transparência metodológica é parte da confiabilidade dos resultados.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4"/>
          <p:cNvSpPr/>
          <p:nvPr/>
        </p:nvSpPr>
        <p:spPr>
          <a:xfrm>
            <a:off x="493920" y="6583680"/>
            <a:ext cx="11201040" cy="10440"/>
          </a:xfrm>
          <a:prstGeom prst="rect">
            <a:avLst/>
          </a:prstGeom>
          <a:solidFill>
            <a:srgbClr val="DBE3EC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11384280" y="658368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9697F"/>
                </a:solidFill>
                <a:effectLst/>
                <a:uFillTx/>
                <a:latin typeface="Aptos"/>
              </a:rPr>
              <a:t>12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6"/>
          <p:cNvSpPr/>
          <p:nvPr/>
        </p:nvSpPr>
        <p:spPr>
          <a:xfrm>
            <a:off x="658440" y="1499760"/>
            <a:ext cx="5330520" cy="3236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7"/>
          <p:cNvSpPr/>
          <p:nvPr/>
        </p:nvSpPr>
        <p:spPr>
          <a:xfrm>
            <a:off x="658440" y="1499760"/>
            <a:ext cx="77400" cy="3236760"/>
          </a:xfrm>
          <a:prstGeom prst="rect">
            <a:avLst/>
          </a:prstGeom>
          <a:solidFill>
            <a:srgbClr val="F0703E"/>
          </a:solidFill>
          <a:ln>
            <a:solidFill>
              <a:srgbClr val="F070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8"/>
          <p:cNvSpPr/>
          <p:nvPr/>
        </p:nvSpPr>
        <p:spPr>
          <a:xfrm>
            <a:off x="859680" y="1645920"/>
            <a:ext cx="4983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Limitações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859680" y="2057400"/>
            <a:ext cx="4964760" cy="25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Recorte por UF, não por escola.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Periodicidades distintas entre indicadores.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Médias do Power BI não são médias nacionais ponderadas.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Análise descritiva, sem inferir causalidade.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6208920" y="1499760"/>
            <a:ext cx="5330520" cy="3236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BE3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11"/>
          <p:cNvSpPr/>
          <p:nvPr/>
        </p:nvSpPr>
        <p:spPr>
          <a:xfrm>
            <a:off x="6208920" y="1499760"/>
            <a:ext cx="77400" cy="3236760"/>
          </a:xfrm>
          <a:prstGeom prst="rect">
            <a:avLst/>
          </a:prstGeom>
          <a:solidFill>
            <a:srgbClr val="1070CD"/>
          </a:solidFill>
          <a:ln>
            <a:solidFill>
              <a:srgbClr val="1070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6409800" y="1645920"/>
            <a:ext cx="4983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Contribuições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3"/>
          <p:cNvSpPr/>
          <p:nvPr/>
        </p:nvSpPr>
        <p:spPr>
          <a:xfrm>
            <a:off x="6409800" y="2057400"/>
            <a:ext cx="4964760" cy="25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Harmonização histórica por edição.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Preservação dos agregados oficiais.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Pipeline automatizado e rastreável.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243044"/>
                </a:solidFill>
                <a:effectLst/>
                <a:uFillTx/>
                <a:latin typeface="Aptos"/>
              </a:rPr>
              <a:t>• Gold dimensional e sete páginas de BI.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4"/>
          <p:cNvSpPr/>
          <p:nvPr/>
        </p:nvSpPr>
        <p:spPr>
          <a:xfrm>
            <a:off x="1005840" y="520308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3040" rIns="3672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99"/>
              </a:spcAft>
            </a:pPr>
            <a:r>
              <a:rPr lang="en-US" sz="1900" b="1" u="none" strike="noStrike">
                <a:solidFill>
                  <a:srgbClr val="182B94"/>
                </a:solidFill>
                <a:effectLst/>
                <a:uFillTx/>
                <a:latin typeface="Aptos"/>
              </a:rPr>
              <a:t>Conclusão: dados dispersos se tornam um produto analítico reproduzível e verificável.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1" descr="02_amplo_para_long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2026-10-29T16:32:25Z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